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302" r:id="rId3"/>
    <p:sldId id="263" r:id="rId4"/>
    <p:sldId id="303" r:id="rId5"/>
    <p:sldId id="265" r:id="rId6"/>
    <p:sldId id="264" r:id="rId7"/>
    <p:sldId id="267" r:id="rId8"/>
    <p:sldId id="31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87"/>
    <a:srgbClr val="00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7"/>
    <p:restoredTop sz="96327"/>
  </p:normalViewPr>
  <p:slideViewPr>
    <p:cSldViewPr snapToGrid="0">
      <p:cViewPr>
        <p:scale>
          <a:sx n="75" d="100"/>
          <a:sy n="75" d="100"/>
        </p:scale>
        <p:origin x="26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61CE4-BB05-4965-A55C-E9732BCBAF42}" type="datetimeFigureOut">
              <a:rPr lang="en-CA" smtClean="0"/>
              <a:t>2026-06-14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AF780-8423-4125-BD97-E6FF2D5825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274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0FAC-6693-BF16-38C0-FA4F916FF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9CB25-DF56-58C0-EBC6-DE5CA738C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1413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DF8E-80B6-76BD-D9A3-7F53FA47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225"/>
            <a:ext cx="9156700" cy="5873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DA30-DC58-8398-08D5-43F35E1E3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567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3834941-83E5-20E6-7517-B6AC2D83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3159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00B1E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OPTIONAL SECTION NAME</a:t>
            </a:r>
          </a:p>
        </p:txBody>
      </p:sp>
    </p:spTree>
    <p:extLst>
      <p:ext uri="{BB962C8B-B14F-4D97-AF65-F5344CB8AC3E}">
        <p14:creationId xmlns:p14="http://schemas.microsoft.com/office/powerpoint/2010/main" val="131312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61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09D7-6672-8628-1BF0-14EEDB97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58738"/>
            <a:ext cx="5840412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0AC20-23D3-6D4B-C919-FFCFE523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2"/>
            <a:ext cx="5065712" cy="438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F9743-313B-14ED-1392-BABF6A659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49462"/>
            <a:ext cx="393223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346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66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844" y="802640"/>
            <a:ext cx="9789367" cy="1147459"/>
          </a:xfrm>
        </p:spPr>
        <p:txBody>
          <a:bodyPr/>
          <a:lstStyle/>
          <a:p>
            <a:pPr algn="ctr"/>
            <a:r>
              <a:rPr lang="en-US" sz="4000" dirty="0"/>
              <a:t>Maximizing Guest Retention through Cross-Property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0249" y="2880078"/>
            <a:ext cx="5105400" cy="2602819"/>
          </a:xfrm>
        </p:spPr>
        <p:txBody>
          <a:bodyPr/>
          <a:lstStyle/>
          <a:p>
            <a:r>
              <a:rPr lang="en-US" sz="1800" b="1" dirty="0"/>
              <a:t>Advance Data Analytics - Final Project</a:t>
            </a:r>
          </a:p>
          <a:p>
            <a:endParaRPr lang="en-US" sz="1800" dirty="0"/>
          </a:p>
          <a:p>
            <a:r>
              <a:rPr lang="en-US" sz="1800" b="1" dirty="0"/>
              <a:t>Group 3:</a:t>
            </a:r>
          </a:p>
          <a:p>
            <a:r>
              <a:rPr lang="en-US" sz="1800" dirty="0"/>
              <a:t>Gerald Abbey</a:t>
            </a:r>
          </a:p>
          <a:p>
            <a:r>
              <a:rPr lang="en-US" sz="1800" dirty="0"/>
              <a:t>Ansu Joy</a:t>
            </a:r>
          </a:p>
          <a:p>
            <a:r>
              <a:rPr lang="en-US" sz="1800" dirty="0"/>
              <a:t>Nihal </a:t>
            </a:r>
            <a:r>
              <a:rPr lang="en-US" sz="1800" dirty="0" err="1"/>
              <a:t>Vellaramkallingal</a:t>
            </a:r>
            <a:r>
              <a:rPr lang="en-US" sz="1800" dirty="0"/>
              <a:t> Sulaiman</a:t>
            </a:r>
          </a:p>
          <a:p>
            <a:r>
              <a:rPr lang="en-US" sz="1800" dirty="0"/>
              <a:t>Souren Chowdhury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C1629-A5F1-EDC6-916A-3A69AAC5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797" y="2880078"/>
            <a:ext cx="5542948" cy="2954770"/>
          </a:xfrm>
          <a:prstGeom prst="roundRect">
            <a:avLst/>
          </a:prstGeom>
          <a:effectLst>
            <a:outerShdw blurRad="63500" dist="50800" dir="5400000" algn="ctr" rotWithShape="0">
              <a:srgbClr val="000000">
                <a:alpha val="98000"/>
              </a:srgbClr>
            </a:outerShdw>
            <a:softEdge rad="381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Business Blind Spot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35320" cy="42481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The Problem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Revenue loss from late-stage booking cancellations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The Blind Spot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Guest data is analyzed in silos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Room bookings are separated from spa, casino, and dining data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No unified view of guest behavior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Key Question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Do engaged guests (cross-property spenders) cancel less often?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C62CE-2D80-3EEB-62D4-0501F7DFC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0" y="2202355"/>
            <a:ext cx="4287520" cy="3324686"/>
          </a:xfrm>
          <a:prstGeom prst="flowChartAlternateProcess">
            <a:avLst/>
          </a:prstGeom>
          <a:effectLst>
            <a:softEdge rad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AB14-6F0E-42E1-C218-E77F2F3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81037"/>
            <a:ext cx="9156700" cy="848632"/>
          </a:xfrm>
        </p:spPr>
        <p:txBody>
          <a:bodyPr/>
          <a:lstStyle/>
          <a:p>
            <a:r>
              <a:rPr lang="en-US" sz="3600" dirty="0"/>
              <a:t>Unifying the Data in the Cloud</a:t>
            </a:r>
            <a:br>
              <a:rPr lang="en-US" sz="3600" dirty="0"/>
            </a:br>
            <a:r>
              <a:rPr lang="en-US" sz="2000" dirty="0"/>
              <a:t>Cloud-based analytics pipeline (Databricks)</a:t>
            </a:r>
            <a:endParaRPr lang="en-C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9EE6E-F123-242D-9DC2-900253029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817359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Data Sources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119,000+ hotel booking records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Guest reviews (TripAdvisor dataset)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Cross-property spending data (synthetic POS logs)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Cloud Integration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Unified processing on Databricks / GCP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Scalable data pipeline for large datasets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Outcome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Unified 360° guest profile in the cloud</a:t>
            </a:r>
            <a:endParaRPr lang="en-CA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59691D-42A7-15D6-9188-872C8BED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296" y="3429000"/>
            <a:ext cx="4167024" cy="267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85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Predicting Guest Cancellation Risk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9156700" cy="4752457"/>
          </a:xfrm>
        </p:spPr>
        <p:txBody>
          <a:bodyPr/>
          <a:lstStyle/>
          <a:p>
            <a:r>
              <a:rPr lang="en-US" sz="1600" b="1" dirty="0"/>
              <a:t>Key Finding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Guests who engage with on-property amenities are significantly less likely to cancel their reservations.</a:t>
            </a:r>
          </a:p>
          <a:p>
            <a:r>
              <a:rPr lang="en-US" sz="1600" b="1" dirty="0"/>
              <a:t>Survival Analysis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Applied </a:t>
            </a:r>
            <a:r>
              <a:rPr lang="en-US" sz="1600" b="1" dirty="0"/>
              <a:t>Kaplan-Meier </a:t>
            </a:r>
            <a:r>
              <a:rPr lang="en-US" sz="1600" dirty="0"/>
              <a:t>for guest retention modelling.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Compared </a:t>
            </a:r>
            <a:r>
              <a:rPr lang="en-US" sz="1600" b="1" dirty="0"/>
              <a:t>On‑Property vs Room‑Only </a:t>
            </a:r>
            <a:r>
              <a:rPr lang="en-US" sz="1600" dirty="0"/>
              <a:t>guests.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Identified </a:t>
            </a:r>
            <a:r>
              <a:rPr lang="en-US" sz="1600" b="1" dirty="0"/>
              <a:t>high‑risk pre‑arrival cancellation </a:t>
            </a:r>
            <a:r>
              <a:rPr lang="en-US" sz="1600" dirty="0"/>
              <a:t>windows.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Cross‑property guests showed stronger retention</a:t>
            </a:r>
          </a:p>
          <a:p>
            <a:endParaRPr lang="en-US" sz="1600" b="1" dirty="0"/>
          </a:p>
          <a:p>
            <a:r>
              <a:rPr lang="en-US" sz="1600" b="1" dirty="0"/>
              <a:t>Business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Room-only guests are more vulnerable to cancellation.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highest cancellation risk occurs approximately </a:t>
            </a:r>
            <a:r>
              <a:rPr lang="en-US" sz="1600" b="1" dirty="0"/>
              <a:t>14–30 days before arrival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Early identification enables proactive retention campaigns.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Personalized offers can be triggered before guests reach peak cancellation risk.</a:t>
            </a:r>
          </a:p>
          <a:p>
            <a:endParaRPr lang="en-US" sz="1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642A9-9B79-150A-88F3-FBE9D726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2559058"/>
            <a:ext cx="4592320" cy="2927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C913-C1BE-E9F6-F95E-29B0780C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5C65-5E3A-B4C1-4093-A27DE05F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AI-Driven Guest Personalization System</a:t>
            </a:r>
            <a:endParaRPr lang="en-CA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A025D-44B6-40EB-B02D-2890865E4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156700" cy="474789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Intelligent Guest Targeting System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Converts guest feedback into actionable decisions 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Combines sentiment analysis + guest behavior patterns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Automated Actions (</a:t>
            </a:r>
            <a:r>
              <a:rPr lang="en-US" sz="1600" dirty="0"/>
              <a:t>An automated NLP recommendation engine)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Negative experience    Service Recovery offer</a:t>
            </a:r>
            <a:r>
              <a:rPr lang="en-US" sz="1600" dirty="0"/>
              <a:t> (discounts, apology incentives)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Positive experience    Targeted upsell</a:t>
            </a:r>
            <a:r>
              <a:rPr lang="en-US" sz="1600" dirty="0"/>
              <a:t> (spa, casino, dining packages)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How It Works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Analyzes guest reviews using </a:t>
            </a:r>
            <a:r>
              <a:rPr lang="en-US" sz="1600" b="1" dirty="0"/>
              <a:t>sentiment scoring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Assigns personalized offers automatically</a:t>
            </a:r>
            <a:endParaRPr lang="en-US" sz="16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Goal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br>
              <a:rPr lang="en-US" sz="1600" dirty="0"/>
            </a:br>
            <a:r>
              <a:rPr lang="en-US" sz="1600" dirty="0"/>
              <a:t>Right offer → Right guest → Right time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D2797-0485-9442-9F8F-753662505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4114800"/>
            <a:ext cx="5090160" cy="2458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5DD489-61E7-D0F6-9E51-5EE65B067D6E}"/>
              </a:ext>
            </a:extLst>
          </p:cNvPr>
          <p:cNvCxnSpPr/>
          <p:nvPr/>
        </p:nvCxnSpPr>
        <p:spPr>
          <a:xfrm>
            <a:off x="3190240" y="3703320"/>
            <a:ext cx="193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854B2E-7C9B-9A0B-3398-FD1B9C20D581}"/>
              </a:ext>
            </a:extLst>
          </p:cNvPr>
          <p:cNvCxnSpPr/>
          <p:nvPr/>
        </p:nvCxnSpPr>
        <p:spPr>
          <a:xfrm>
            <a:off x="3139440" y="3957320"/>
            <a:ext cx="193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5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0D22D-EA94-6FA2-C87B-F720345E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7C06-2CCE-2FF5-2BF1-003DE160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Business Impact (ROI)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6B17D-79DD-2E56-219B-1A4B9FDB4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9762635" cy="44532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Revenue Protection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Reduced booking cancellations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Improved revenue retention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Revenue Growth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Higher cross-property spending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Increased conversion from personalized offers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Customer Value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Improved guest satisfaction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Higher customer lifetime value (CLV)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Strategy Shift:</a:t>
            </a:r>
            <a:br>
              <a:rPr lang="en-US" sz="1600" b="1" dirty="0"/>
            </a:br>
            <a:endParaRPr lang="en-US" sz="1600" b="1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Shift from reactive to predictive revenue management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76C084-8952-9E70-CCFD-068480A4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657" y="3975796"/>
            <a:ext cx="3536243" cy="1967803"/>
          </a:xfrm>
          <a:prstGeom prst="round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9FB155-B0F1-280B-8B0D-EBA6FD987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56" y="1684290"/>
            <a:ext cx="3536243" cy="196780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2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D039-DCE2-63FA-4BEF-CAF2DD05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9F86-4076-B4CF-3CE9-7788CC4F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Recommendations &amp; Next Steps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C63EBB-B0EC-3417-6DA4-0D2EC304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286"/>
            <a:ext cx="8569960" cy="4229489"/>
          </a:xfrm>
        </p:spPr>
        <p:txBody>
          <a:bodyPr/>
          <a:lstStyle/>
          <a:p>
            <a:r>
              <a:rPr lang="en-US" sz="2000" b="1" dirty="0"/>
              <a:t>Recommendations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Trigger offers before high-risk cancellation periods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guest sentiment for real-time service recovery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Promote bundled experiences (hotel + spa + casino)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 system into CRM for automation</a:t>
            </a:r>
          </a:p>
          <a:p>
            <a:endParaRPr lang="en-US" sz="2000" dirty="0"/>
          </a:p>
          <a:p>
            <a:r>
              <a:rPr lang="en-US" sz="2000" b="1" dirty="0"/>
              <a:t>Final Goal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Maximize guest lifetime value across all properties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A4FBEE-2C4C-B8DE-6F2E-ED09BFE2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40" y="3669383"/>
            <a:ext cx="3525519" cy="2223417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888407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63DE-3CC1-279F-CDDC-1D4C975F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4246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{0513A6C0-F57C-6240-9A89-F4E5EE3852F3}tf16401378</Template>
  <TotalTime>6457</TotalTime>
  <Words>399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Maximizing Guest Retention through Cross-Property Analytics</vt:lpstr>
      <vt:lpstr>The Business Blind Spot</vt:lpstr>
      <vt:lpstr>Unifying the Data in the Cloud Cloud-based analytics pipeline (Databricks)</vt:lpstr>
      <vt:lpstr>Predicting Guest Cancellation Risk</vt:lpstr>
      <vt:lpstr>AI-Driven Guest Personalization System</vt:lpstr>
      <vt:lpstr>Business Impact (ROI)</vt:lpstr>
      <vt:lpstr>Recommendations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</dc:title>
  <dc:creator>Ashley Kowal</dc:creator>
  <cp:lastModifiedBy>Souren Chowdhury</cp:lastModifiedBy>
  <cp:revision>124</cp:revision>
  <dcterms:created xsi:type="dcterms:W3CDTF">2024-01-12T20:35:40Z</dcterms:created>
  <dcterms:modified xsi:type="dcterms:W3CDTF">2026-06-14T17:58:46Z</dcterms:modified>
</cp:coreProperties>
</file>